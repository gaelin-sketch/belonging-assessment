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screen as people arrive. NOTE: 'Anchored — Belonging That Survives Change' is the working title from the brief — Gaelin to confirm final session title before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Stated in minute one. Carry It Up is the physical flip chart in the room — the small gold arrow mark reappears on the Resolved activity and the closing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inventory (~10 min). Neutral framing on purpose: 'changed,' never 'taken.' Works at any emotional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teaching slide before tables sort their cards. Gaelin narrates RTO examples per domain from facilitator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Tables place their change cards under the five printed SCARF wall headers (print materials, section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line after the sort debrief — the hinge of the first hour. Hold it in silence for a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10-minute break. Announce the exact return time verbally and write it on the flip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teach, anchored to the Belonging Matrix language the team already knows (Fitting In vs. Belonging). The rent/deed line is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slide #1. Gaelin narrates the detail — the slide holds the skeleton. One headline finding per anchor.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slide #2. Deliberately typographic — no imagery of the event itself. Treat with restraint.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line closing the evidence case. The locker-room story is told live, unslided, immediately before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into the second half. Sets up the evidence wall WITHOUT revealing it — no preview of what comes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BLIND activity — this slide must look complete and standalone. No column structure, no '1 of 3,' no hint of the re-examination that comes two slides later. Preserve strictly.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 teach (~12 min): belonging uncertainty and perception. The intervention changes the attribution, not the circumstances.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Tables re-sort every sticky. Columns two and three get drawn on their paper NOW, live — they were never on screen before this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column (~8 min): convert each item into an observable picture of possible belonging. Route genuinely broken-trust items to the Carry It Up board, not this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1 of the commitment block (~40 min total, three rounds at tables). Advance the deck as each round begins — the round in play is the navy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2. Needs, not grievances. Leadership asks walk to the Carry It Up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3. Each table writes its one-page compact and keeps it. Collect nothing — the compact belongs to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Individual commitment: each person writes one line — one behavior, starting this week. Written before the send-off.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send-off. Follow this slide with the standard contact/QR evaluation slide from Gaelin's existing template (not rebuilt here).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95560" y="-256032"/>
            <a:ext cx="1234440" cy="841248"/>
          </a:xfrm>
          <a:prstGeom prst="roundRect">
            <a:avLst>
              <a:gd name="adj" fmla="val 17391"/>
            </a:avLst>
          </a:prstGeom>
          <a:solidFill>
            <a:srgbClr val="F0A62B"/>
          </a:solidFill>
          <a:ln/>
        </p:spPr>
      </p:sp>
      <p:sp>
        <p:nvSpPr>
          <p:cNvPr id="3" name="Shape 1"/>
          <p:cNvSpPr/>
          <p:nvPr/>
        </p:nvSpPr>
        <p:spPr>
          <a:xfrm>
            <a:off x="11539728" y="54864"/>
            <a:ext cx="621792" cy="621792"/>
          </a:xfrm>
          <a:prstGeom prst="roundRect">
            <a:avLst>
              <a:gd name="adj" fmla="val 17647"/>
            </a:avLst>
          </a:prstGeom>
          <a:solidFill>
            <a:srgbClr val="E950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34747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6FA3D3"/>
          </a:solidFill>
          <a:ln/>
        </p:spPr>
      </p:sp>
      <p:sp>
        <p:nvSpPr>
          <p:cNvPr id="5" name="Shape 3"/>
          <p:cNvSpPr/>
          <p:nvPr/>
        </p:nvSpPr>
        <p:spPr>
          <a:xfrm>
            <a:off x="11018520" y="932688"/>
            <a:ext cx="1024128" cy="713232"/>
          </a:xfrm>
          <a:prstGeom prst="roundRect">
            <a:avLst>
              <a:gd name="adj" fmla="val 17949"/>
            </a:avLst>
          </a:prstGeom>
          <a:solidFill>
            <a:srgbClr val="2438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3  ·  A THREE-HOUR TEAM SESSION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6596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ANCHORED.</a:t>
            </a:r>
            <a:endParaRPr lang="en-US" sz="8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Belonging that survives change.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06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6053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Gaelin Elmore, CSP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6053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ELMORE GROUP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 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agreements for the next </a:t>
            </a:r>
            <a:pPr algn="l" indent="0" marL="0">
              <a:buNone/>
            </a:pPr>
            <a:r>
              <a:rPr lang="en-US" sz="340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hours.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34440" y="2148840"/>
            <a:ext cx="822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6FA3D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148840"/>
            <a:ext cx="85953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 about us — not about people who aren’t in the room.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234440" y="3977640"/>
            <a:ext cx="822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3977640"/>
            <a:ext cx="7589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you want leadership to hear goes on the </a:t>
            </a:r>
            <a:pPr indent="0" marL="0">
              <a:buNone/>
            </a:pPr>
            <a:r>
              <a:rPr lang="en-US" sz="2000" b="1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It Up</a:t>
            </a:r>
            <a:pPr indent="0" marL="0"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 I will personally deliver it tomorrow.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378440" y="4617720"/>
            <a:ext cx="546811" cy="546811"/>
          </a:xfrm>
          <a:prstGeom prst="roundRect">
            <a:avLst>
              <a:gd name="adj" fmla="val 19231"/>
            </a:avLst>
          </a:prstGeom>
          <a:solidFill>
            <a:srgbClr val="F0A62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0611" y="4759891"/>
            <a:ext cx="262469" cy="2624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012680" y="523036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IT UP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FA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ACTIVITY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has the return to the office </a:t>
            </a:r>
            <a:pPr algn="l"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changed</a:t>
            </a:r>
            <a:pPr algn="l"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for you?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better or worse. One change per card. Specific and honest.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5623560"/>
            <a:ext cx="4297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5623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200" kern="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MINUTES  ·  NO NAMES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11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BRAIN READS SOCIAL CHANGE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4980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6FA3D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S.</a:t>
            </a:r>
            <a:pPr indent="0" marL="0">
              <a:buNone/>
            </a:pPr>
            <a:r>
              <a:rPr lang="en-US" sz="54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C.</a:t>
            </a:r>
            <a:pPr indent="0" marL="0">
              <a:buNone/>
            </a:pPr>
            <a:r>
              <a:rPr lang="en-US" sz="54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A.</a:t>
            </a:r>
            <a:pPr indent="0" marL="0">
              <a:buNone/>
            </a:pPr>
            <a:r>
              <a:rPr lang="en-US" sz="540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R.</a:t>
            </a:r>
            <a:pPr indent="0" marL="0">
              <a:buNone/>
            </a:pPr>
            <a:r>
              <a:rPr lang="en-US" sz="5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 processes social experiences with the same threat-and-reward circuitry it uses for physical survival. Five domains trigger it: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42032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6FA3D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542032"/>
            <a:ext cx="9784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pPr indent="0" marL="0">
              <a:buNone/>
            </a:pPr>
            <a:r>
              <a:rPr lang="en-US" sz="1600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Your relative importance and standing with others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18104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3118104"/>
            <a:ext cx="9784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Certainty</a:t>
            </a:r>
            <a:pPr indent="0" marL="0">
              <a:buNone/>
            </a:pPr>
            <a:r>
              <a:rPr lang="en-US" sz="1600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Your ability to predict what happens next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94176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694176"/>
            <a:ext cx="9784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</a:t>
            </a:r>
            <a:pPr indent="0" marL="0">
              <a:buNone/>
            </a:pPr>
            <a:r>
              <a:rPr lang="en-US" sz="1600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Your sense of control over events and your own day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70248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4270248"/>
            <a:ext cx="9784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Relatedness</a:t>
            </a:r>
            <a:pPr indent="0" marL="0">
              <a:buNone/>
            </a:pPr>
            <a:r>
              <a:rPr lang="en-US" sz="1600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Your sense of safety and connection with others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5669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46320"/>
            <a:ext cx="9784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</a:t>
            </a:r>
            <a:pPr indent="0" marL="0">
              <a:buNone/>
            </a:pPr>
            <a:r>
              <a:rPr lang="en-US" sz="1600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Your perception that exchanges and rules are just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perceived drop in any domain fires a </a:t>
            </a:r>
            <a:pPr indent="0" marL="0">
              <a:buNone/>
            </a:pPr>
            <a:r>
              <a:rPr lang="en-US" sz="1700" b="1" dirty="0">
                <a:solidFill>
                  <a:srgbClr val="E95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pPr indent="0" marL="0">
              <a:buNone/>
            </a:pPr>
            <a:r>
              <a:rPr lang="en-US" sz="17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response. A perceived gain fires </a:t>
            </a:r>
            <a:pPr indent="0" marL="0">
              <a:buNone/>
            </a:pPr>
            <a:r>
              <a:rPr lang="en-US" sz="1700" b="1" dirty="0">
                <a:solidFill>
                  <a:srgbClr val="F0A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</a:t>
            </a:r>
            <a:pPr indent="0" marL="0">
              <a:buNone/>
            </a:pPr>
            <a:r>
              <a:rPr lang="en-US" sz="17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Rock, D. (2008). SCARF: A brain-based model for collaborating with and influencing others. NeuroLeadership Journal, 1(1).  ·  Eisenberger, N., Lieberman, M., &amp; Williams, K. (2003). Does rejection hurt? An fMRI study of social exclusion. Science, 302.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FA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ACTIVITY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a table, sort your cards under the </a:t>
            </a:r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SCARF headers.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E6C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880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536192" y="2880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0A62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36192" y="2880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249424" y="2880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950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49424" y="2880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962656" y="2880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1A2C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2656" y="2880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675888" y="28803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4384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75888" y="2880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did the return hit hardest?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17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card can sit under more than one — pick where it pulls strongest.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623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200" kern="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MINUTES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Notice what’s actually threatened.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060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your 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0A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belonging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your 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certainty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your 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your sense of the deal being 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</a:t>
            </a:r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976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brain just files them
</a:t>
            </a:r>
            <a:pPr indent="0" marL="0">
              <a:lnSpc>
                <a:spcPts val="4000"/>
              </a:lnSpc>
              <a:buNone/>
            </a:pPr>
            <a:r>
              <a:rPr lang="en-US" sz="34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 the same drawer.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548640" y="137160"/>
            <a:ext cx="1335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E7EDF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BREAK BREAK BREAK BREAK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-548640" y="1234440"/>
            <a:ext cx="1335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E7EDF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REAK BREAK BREAK BREAK B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-548640" y="2331720"/>
            <a:ext cx="1335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E7EDF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BREAK BREAK BREAK BREA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-548640" y="3429000"/>
            <a:ext cx="1335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E7EDF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BREAK BREAK BREAK BREAK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-548640" y="4526280"/>
            <a:ext cx="1335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E7EDF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REAK BREAK BREAK BREAK B</a:t>
            </a:r>
            <a:endParaRPr lang="en-US" sz="5800" dirty="0"/>
          </a:p>
        </p:txBody>
      </p:sp>
      <p:sp>
        <p:nvSpPr>
          <p:cNvPr id="7" name="Text 5"/>
          <p:cNvSpPr txBox="1"/>
          <p:nvPr/>
        </p:nvSpPr>
        <p:spPr>
          <a:xfrm>
            <a:off x="-548640" y="5623560"/>
            <a:ext cx="1335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E7EDF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BREAK BREAK BREAK BREA</a:t>
            </a:r>
            <a:endParaRPr lang="en-US" sz="5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68880"/>
            <a:ext cx="103601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BREAK.</a:t>
            </a:r>
            <a:endParaRPr lang="en-US" sz="9600" dirty="0"/>
          </a:p>
        </p:txBody>
      </p:sp>
      <p:sp>
        <p:nvSpPr>
          <p:cNvPr id="9" name="Shape 7"/>
          <p:cNvSpPr/>
          <p:nvPr/>
        </p:nvSpPr>
        <p:spPr>
          <a:xfrm>
            <a:off x="4626864" y="44805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200" kern="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 IN 10 MINUTES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4476" cy="5349240"/>
          </a:xfrm>
          <a:prstGeom prst="rect">
            <a:avLst/>
          </a:prstGeom>
          <a:solidFill>
            <a:srgbClr val="6FA3D3"/>
          </a:solidFill>
          <a:ln/>
        </p:spPr>
      </p:sp>
      <p:sp>
        <p:nvSpPr>
          <p:cNvPr id="3" name="Shape 1"/>
          <p:cNvSpPr/>
          <p:nvPr/>
        </p:nvSpPr>
        <p:spPr>
          <a:xfrm>
            <a:off x="6094476" y="0"/>
            <a:ext cx="6094476" cy="5349240"/>
          </a:xfrm>
          <a:prstGeom prst="rect">
            <a:avLst/>
          </a:prstGeom>
          <a:solidFill>
            <a:srgbClr val="F0A62B"/>
          </a:solidFill>
          <a:ln/>
        </p:spPr>
      </p:sp>
      <p:sp>
        <p:nvSpPr>
          <p:cNvPr id="4" name="Shape 2"/>
          <p:cNvSpPr/>
          <p:nvPr/>
        </p:nvSpPr>
        <p:spPr>
          <a:xfrm>
            <a:off x="4041648" y="292608"/>
            <a:ext cx="4114800" cy="566928"/>
          </a:xfrm>
          <a:prstGeom prst="rect">
            <a:avLst/>
          </a:prstGeom>
          <a:solidFill>
            <a:srgbClr val="F8F6F0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041648" y="29260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KINDS OF BELONGING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4173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THREAT-DRIVEN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Belonging to avoid something.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606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Fast. Contingent on circumstances.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5661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RENTED.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4173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VALUE-DRIVEN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103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Belonging toward something.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606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Slow. Anchored in what you choose.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35661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OWNED.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5349240"/>
            <a:ext cx="112745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Fitting in is </a:t>
            </a:r>
            <a:pPr algn="ctr" indent="0" marL="0">
              <a:buNone/>
            </a:pPr>
            <a:r>
              <a:rPr lang="en-US" sz="30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rent</a:t>
            </a:r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   Belonging is a </a:t>
            </a:r>
            <a:pPr algn="ctr" indent="0" marL="0">
              <a:buNone/>
            </a:pPr>
            <a:r>
              <a:rPr lang="en-US" sz="30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deed</a:t>
            </a:r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65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the research shows: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5102352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bonds groups fast — and leaves them fragile.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7889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shared goals produced belonging that lasted.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4107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Sherif, Robbers Cave, 1954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102352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29400" y="18745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External pressure collapses when the pressure changes.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7889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Internalized values persist.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34107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 &amp; Ryan, Self-Determination Theory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4023360"/>
            <a:ext cx="5102352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188720" y="42976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Belonging built on avoiding something burns out.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212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metabolically expensive. Belonging built toward something renews.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58338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Elliot, approach–avoidance motivation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3640" y="4023360"/>
            <a:ext cx="5102352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29400" y="42976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Fear produces the performance of belonging.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5212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Silence, matching, looking unified — while trust goes underground.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583387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Edmondson, psychological safety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F0A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≈90%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290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— the highest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 recorded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Near-universal national unity.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228600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two years, the country returned to — and then exceeded — its prior divisions.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347472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unity was real. It was </a:t>
            </a:r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rented from the threat.</a:t>
            </a:r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When the threat receded, </a:t>
            </a:r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lease expired.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5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471F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471F1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is a </a:t>
            </a:r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sprinter.</a:t>
            </a:r>
            <a:pPr indent="0" marL="0">
              <a:lnSpc>
                <a:spcPts val="5200"/>
              </a:lnSpc>
              <a:buNone/>
            </a:pP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471F1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Values are a 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distance runner.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71F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wins the first hundred meters every time.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7091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has never once finished the race.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 to office is a </a:t>
            </a:r>
            <a:pPr indent="0" marL="0">
              <a:buNone/>
            </a:pPr>
            <a:r>
              <a:rPr lang="en-US" sz="2400" b="1" dirty="0">
                <a:solidFill>
                  <a:srgbClr val="E95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your brain registered.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isn’t whether that’s true.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question is
</a:t>
            </a:r>
            <a:pPr indent="0" marL="0">
              <a:lnSpc>
                <a:spcPts val="5600"/>
              </a:lnSpc>
              <a:buNone/>
            </a:pPr>
            <a:r>
              <a:rPr lang="en-US" sz="48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anchor to.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FA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ACTIVITY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organization has evidence people could point to and say </a:t>
            </a:r>
            <a:pPr indent="0" marL="0">
              <a:lnSpc>
                <a:spcPts val="31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“belonging doesn’t exist here.”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97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What’s ours?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51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Observable things only — things you could point to, not feelings. One per sticky.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562356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5623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200" kern="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MINUTES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 DECIDE WHAT THIS EVIDENCE MEANS 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22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this evidence of?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uncertain situations, the brain reads ambiguous events as verdicts on belonging.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effective belonging interventions ever studied </a:t>
            </a:r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E95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didn’t change the events.</a:t>
            </a:r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changed the reading: adversity is </a:t>
            </a:r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normal, and temporary.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069080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34440" y="4069080"/>
            <a:ext cx="9875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verdict is </a:t>
            </a:r>
            <a:pPr indent="0" marL="0">
              <a:buNone/>
            </a:pPr>
            <a:r>
              <a:rPr lang="en-US" sz="24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permanent.</a:t>
            </a:r>
            <a:pPr indent="0" marL="0">
              <a:buNone/>
            </a:pPr>
            <a:r>
              <a:rPr lang="en-US" sz="2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A snapshot is </a:t>
            </a:r>
            <a:pPr indent="0" marL="0">
              <a:buNone/>
            </a:pPr>
            <a:r>
              <a:rPr lang="en-US" sz="240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moment.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Walton, G. &amp; Cohen, G. (2011). A brief social-belonging intervention improves academic and health outcomes. Science, 331.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6FA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ACTIVITY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601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your wall. Take every sticky, one at a time, and ask: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 this evidence of </a:t>
            </a:r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ABSENCE</a:t>
            </a:r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—</a:t>
            </a:r>
            <a:endParaRPr lang="en-US" sz="2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belonging can’t exist here?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 evidence of a </a:t>
            </a:r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STATE</a:t>
            </a:r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—</a:t>
            </a:r>
            <a:endParaRPr lang="en-US" sz="2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team under threat, in transition?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10515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34440" y="3977640"/>
            <a:ext cx="9692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spc="200" kern="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TEST  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this have looked the same eighteen months ago? Would it look the same if the stress faded?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5715000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5715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200" kern="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 MINUTES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FA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ACTIVITY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43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100"/>
              </a:lnSpc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 each item: if this were </a:t>
            </a:r>
            <a:pPr indent="0" marL="0">
              <a:lnSpc>
                <a:spcPts val="41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healed</a:t>
            </a:r>
            <a:pPr indent="0" marL="0">
              <a:lnSpc>
                <a:spcPts val="4100"/>
              </a:lnSpc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, what would we see?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697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aspirations — observable pictures.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3429000"/>
            <a:ext cx="10515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234440" y="34290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5E6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group chat went quiet”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 →  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“People share small wins without being asked.”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937760"/>
            <a:ext cx="427939" cy="427939"/>
          </a:xfrm>
          <a:prstGeom prst="roundRect">
            <a:avLst>
              <a:gd name="adj" fmla="val 19231"/>
            </a:avLst>
          </a:prstGeom>
          <a:solidFill>
            <a:srgbClr val="F0A62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224" y="5049024"/>
            <a:ext cx="205411" cy="20541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49377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Genuinely broken trust doesn’t belong in this column — it goes to the Carry It Up board.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76072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" y="57607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spc="200" kern="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 MINUTES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11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COMMITMENT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 </a:t>
            </a:r>
            <a:pPr indent="0" marL="0">
              <a:buNone/>
            </a:pPr>
            <a:r>
              <a:rPr lang="en-US" sz="34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owe</a:t>
            </a:r>
            <a:pPr indent="0" marL="0"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the team.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1A2C42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34440" y="20391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67128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2E6C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002536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 I owe the people at this table?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7157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Specific. Behavioral. Starting this week.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234440" y="36576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785616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621024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 I need from the people at this table to keep showing up that way?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433425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it’s really a leadership ask — walk it to the Carry It Up board.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5020056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34440" y="52760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04104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5239512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a table, write your compact.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595274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page. Keep it.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11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COMMITMENT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 </a:t>
            </a:r>
            <a:pPr indent="0" marL="0">
              <a:buNone/>
            </a:pPr>
            <a:r>
              <a:rPr lang="en-US" sz="34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owe</a:t>
            </a:r>
            <a:pPr indent="0" marL="0"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the team.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34440" y="20391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67128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002536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 I owe the people at this table?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7157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Specific. Behavioral. Starting this week.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1A2C42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234440" y="36576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0A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785616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621024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 I need from the people at this table to keep showing up that way?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433425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it’s really a leadership ask — walk it to the Carry It Up board.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5020056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34440" y="52760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04104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5239512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a table, write your compact.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595274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page. Keep it.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11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2E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COMMITMENT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4980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 </a:t>
            </a:r>
            <a:pPr indent="0" marL="0">
              <a:buNone/>
            </a:pPr>
            <a:r>
              <a:rPr lang="en-US" sz="34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owe</a:t>
            </a:r>
            <a:pPr indent="0" marL="0">
              <a:buNone/>
            </a:pPr>
            <a:r>
              <a:rPr lang="en-US" sz="3400" dirty="0">
                <a:solidFill>
                  <a:srgbClr val="1A2C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the team.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34440" y="20391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67128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002536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 I owe the people at this table?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7157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Specific. Behavioral. Starting this week.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401568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234440" y="36576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785616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621024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AEB9C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 I need from the people at this table to keep showing up that way?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433425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EB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it’s really a leadership ask — walk it to the Carry It Up board.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5020056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1A2C42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34440" y="527608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E95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5404104"/>
            <a:ext cx="868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E950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5239512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 a table, write your compact.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595274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page. Keep it.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ONE OPPORTUNITY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83080"/>
            <a:ext cx="10607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600"/>
              </a:lnSpc>
              <a:buNone/>
            </a:pPr>
            <a:r>
              <a:rPr lang="en-US" sz="6000" dirty="0">
                <a:solidFill>
                  <a:srgbClr val="6FA3D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line.
</a:t>
            </a:r>
            <a:pPr indent="0" marL="0">
              <a:lnSpc>
                <a:spcPts val="7600"/>
              </a:lnSpc>
              <a:buNone/>
            </a:pPr>
            <a:r>
              <a:rPr lang="en-US" sz="60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behavior.
</a:t>
            </a:r>
            <a:pPr indent="0" marL="0">
              <a:lnSpc>
                <a:spcPts val="76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week.</a:t>
            </a:r>
            <a:endParaRPr lang="en-US" sz="6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95560" y="-256032"/>
            <a:ext cx="1234440" cy="841248"/>
          </a:xfrm>
          <a:prstGeom prst="roundRect">
            <a:avLst>
              <a:gd name="adj" fmla="val 17391"/>
            </a:avLst>
          </a:prstGeom>
          <a:solidFill>
            <a:srgbClr val="F0A62B"/>
          </a:solidFill>
          <a:ln/>
        </p:spPr>
      </p:sp>
      <p:sp>
        <p:nvSpPr>
          <p:cNvPr id="3" name="Shape 1"/>
          <p:cNvSpPr/>
          <p:nvPr/>
        </p:nvSpPr>
        <p:spPr>
          <a:xfrm>
            <a:off x="11539728" y="54864"/>
            <a:ext cx="621792" cy="621792"/>
          </a:xfrm>
          <a:prstGeom prst="roundRect">
            <a:avLst>
              <a:gd name="adj" fmla="val 17647"/>
            </a:avLst>
          </a:prstGeom>
          <a:solidFill>
            <a:srgbClr val="E950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0" y="34747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6FA3D3"/>
          </a:solidFill>
          <a:ln/>
        </p:spPr>
      </p:sp>
      <p:sp>
        <p:nvSpPr>
          <p:cNvPr id="5" name="Shape 3"/>
          <p:cNvSpPr/>
          <p:nvPr/>
        </p:nvSpPr>
        <p:spPr>
          <a:xfrm>
            <a:off x="11018520" y="932688"/>
            <a:ext cx="1024128" cy="713232"/>
          </a:xfrm>
          <a:prstGeom prst="roundRect">
            <a:avLst>
              <a:gd name="adj" fmla="val 17949"/>
            </a:avLst>
          </a:prstGeom>
          <a:solidFill>
            <a:srgbClr val="2438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FA3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in this room chose the return to office.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in this room </a:t>
            </a:r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chooses</a:t>
            </a:r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what their belonging is </a:t>
            </a:r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0A6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anchored to.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5257800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F0A62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587" y="5381427"/>
            <a:ext cx="228234" cy="22823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81328" y="5257800"/>
            <a:ext cx="9875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Carry It Up board goes with me to your leaders tomorrow.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3: Anchored — Belonging That Survives Change</dc:title>
  <dc:subject>PptxGenJS Presentation</dc:subject>
  <dc:creator>Gaelin Elmore</dc:creator>
  <cp:lastModifiedBy>Gaelin Elmore</cp:lastModifiedBy>
  <cp:revision>1</cp:revision>
  <dcterms:created xsi:type="dcterms:W3CDTF">2026-09-08T12:20:12Z</dcterms:created>
  <dcterms:modified xsi:type="dcterms:W3CDTF">2026-09-08T12:20:12Z</dcterms:modified>
</cp:coreProperties>
</file>