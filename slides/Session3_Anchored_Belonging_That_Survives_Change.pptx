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screen as people arrive. NOTE: 'Anchored. Belonging That Survives Change' is the working title from the brief. Gaelin to confirm final session title before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in minute one. Carry It Up is the physical flip chart in the room. The small gold arrow mark reappears on the Resolved activity and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inventory (~10 min). Neutral framing on purpose: 'changed,' never 'taken.' Works at any emotional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teaching slide before tables sort their cards. Gaelin narrates RTO examples per domain from facilitator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place their change cards under the five printed SCARF wall headers (print materials, section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line after the sort debrief, the hinge of the first hour. Hold it in silence for a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break. Announce the exact return time verbally and write it on the flip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teach, anchored to the Belonging Matrix language the team already knows (Fitting In vs. Belonging). The rent/deed line is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slide #1. Gaelin narrates the detail; the slide holds the skeleton. One headline finding per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slide #2. Deliberately typographic. No imagery of the event itself. Treat with restraint.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line closing the evidence case. The locker-room story is told live, unslided, immediately before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second half. Sets up the evidence wall WITHOUT revealing it. No preview of what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 activity. This slide must look complete and standalone. No column structure, no '1 of 3,' no hint of the re-examination that comes two slides later. Preserve strictly.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 teach (~12 min): belonging uncertainty and perception. The intervention changes the attribution, not the circumstances.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re-sort every sticky. Columns two and three get drawn on their paper NOW, live. They were never on screen before this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column (~8 min): convert each item into an observable picture of possible belonging. Route genuinely broken-trust items to the Carry It Up board, not this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1 of the commitment block (~40 min total, three rounds at tables). Advance the deck as each round begins; the round in play is the navy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2. Needs, not grievances. Leadership asks walk to the Carry It Up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3. Each table writes its one-page compact and keeps it. Collect nothing; the compact belongs to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commitment: each person writes one line: one behavior, starting this week. Written before the send-off.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send-off. Follow this slide with the standard contact/QR evaluation slide from Gaelin's existing template (not rebuilt here).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-256032"/>
            <a:ext cx="1234440" cy="841248"/>
          </a:xfrm>
          <a:prstGeom prst="roundRect">
            <a:avLst>
              <a:gd name="adj" fmla="val 17391"/>
            </a:avLst>
          </a:prstGeom>
          <a:solidFill>
            <a:srgbClr val="F0A62B"/>
          </a:solidFill>
          <a:ln/>
        </p:spPr>
      </p:sp>
      <p:sp>
        <p:nvSpPr>
          <p:cNvPr id="3" name="Shape 1"/>
          <p:cNvSpPr/>
          <p:nvPr/>
        </p:nvSpPr>
        <p:spPr>
          <a:xfrm>
            <a:off x="11539728" y="5486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950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4747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6FA3D3"/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0" y="932688"/>
            <a:ext cx="1024128" cy="713232"/>
          </a:xfrm>
          <a:prstGeom prst="roundRect">
            <a:avLst>
              <a:gd name="adj" fmla="val 17949"/>
            </a:avLst>
          </a:prstGeom>
          <a:solidFill>
            <a:srgbClr val="2438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 ·  A THREE-HOUR TEAM SESSION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ANCHORED.</a:t>
            </a:r>
            <a:endParaRPr lang="en-US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Belonging that survives change.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53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Gaelin Elmore, CSP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ELMORE GROUP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agreements for the next </a:t>
            </a:r>
            <a:pPr algn="l" indent="0" marL="0">
              <a:buNone/>
            </a:pPr>
            <a:r>
              <a:rPr lang="en-US" sz="34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hours.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148840"/>
            <a:ext cx="822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6FA3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148840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talk about us, not about people who aren’t in the room.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515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234440" y="3977640"/>
            <a:ext cx="822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977640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want leadership to hear goes on the </a:t>
            </a:r>
            <a:pPr indent="0" marL="0">
              <a:buNone/>
            </a:pPr>
            <a:r>
              <a:rPr lang="en-US" sz="2000" b="1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Up</a:t>
            </a:r>
            <a:pPr indent="0" marL="0"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board. I will personally deliver it tomorrow.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378440" y="4617720"/>
            <a:ext cx="546811" cy="546811"/>
          </a:xfrm>
          <a:prstGeom prst="roundRect">
            <a:avLst>
              <a:gd name="adj" fmla="val 19231"/>
            </a:avLst>
          </a:prstGeom>
          <a:solidFill>
            <a:srgbClr val="F0A6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0611" y="4759891"/>
            <a:ext cx="262469" cy="26246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012680" y="52303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UP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FA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has the return to the office </a:t>
            </a:r>
            <a:pPr algn="l" indent="0" marL="0">
              <a:lnSpc>
                <a:spcPts val="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changed</a:t>
            </a:r>
            <a:pPr algn="l" indent="0" marL="0">
              <a:lnSpc>
                <a:spcPts val="5000"/>
              </a:lnSpc>
              <a:buNone/>
            </a:pPr>
            <a:r>
              <a:rPr lang="en-US" sz="4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for you?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or worse. One change per card. Specific and honest.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562356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5623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MINUTES  ·  NO NAMES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BRAIN READS SOCIAL CHANGE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498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6FA3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S.</a:t>
            </a:r>
            <a:pPr indent="0" marL="0">
              <a:buNone/>
            </a:pPr>
            <a:r>
              <a:rPr lang="en-US" sz="54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C.</a:t>
            </a:r>
            <a:pPr indent="0" marL="0">
              <a:buNone/>
            </a:pPr>
            <a:r>
              <a:rPr lang="en-US" sz="54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</a:t>
            </a:r>
            <a:pPr indent="0" marL="0">
              <a:buNone/>
            </a:pPr>
            <a:r>
              <a:rPr lang="en-US" sz="54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R.</a:t>
            </a:r>
            <a:pPr indent="0" marL="0">
              <a:buNone/>
            </a:pPr>
            <a:r>
              <a:rPr lang="en-US" sz="5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processes social experiences with the same threat-and-reward circuitry it uses for physical survival. Five domains trigger it: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42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FA3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542032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pPr indent="0" marL="0">
              <a:buNone/>
            </a:pPr>
            <a:r>
              <a:rPr lang="en-US" sz="160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relative importance and standing with others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1810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118104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Certainty</a:t>
            </a:r>
            <a:pPr indent="0" marL="0">
              <a:buNone/>
            </a:pPr>
            <a:r>
              <a:rPr lang="en-US" sz="160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ability to predict what happens next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9417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694176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pPr indent="0" marL="0">
              <a:buNone/>
            </a:pPr>
            <a:r>
              <a:rPr lang="en-US" sz="160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sense of control over events and your own day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7024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270248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Relatedness</a:t>
            </a:r>
            <a:pPr indent="0" marL="0">
              <a:buNone/>
            </a:pPr>
            <a:r>
              <a:rPr lang="en-US" sz="160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sense of safety and connection with others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46320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pPr indent="0" marL="0">
              <a:buNone/>
            </a:pPr>
            <a:r>
              <a:rPr lang="en-US" sz="1600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perception that exchanges and rules are just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perceived drop in any domain fires a </a:t>
            </a:r>
            <a:pPr indent="0" marL="0">
              <a:buNone/>
            </a:pPr>
            <a:r>
              <a:rPr lang="en-US" sz="1700" b="1" dirty="0">
                <a:solidFill>
                  <a:srgbClr val="E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pPr indent="0" marL="0">
              <a:buNone/>
            </a:pPr>
            <a:r>
              <a:rPr lang="en-US" sz="17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response. A perceived gain fires </a:t>
            </a:r>
            <a:pPr indent="0" marL="0">
              <a:buNone/>
            </a:pPr>
            <a:r>
              <a:rPr lang="en-US" sz="1700" b="1" dirty="0">
                <a:solidFill>
                  <a:srgbClr val="F0A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pPr indent="0" marL="0">
              <a:buNone/>
            </a:pPr>
            <a:r>
              <a:rPr lang="en-US" sz="17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Rock, D. (2008). SCARF: A brain-based model for collaborating with and influencing others. NeuroLeadership Journal, 1(1).  ·  Eisenberger, N., Lieberman, M., &amp; Williams, K. (2003). Does rejection hurt? An fMRI study of social exclusion. Science, 302.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FA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a table, sort your cards under the </a:t>
            </a:r>
            <a:pPr indent="0" marL="0">
              <a:lnSpc>
                <a:spcPts val="42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SCARF headers.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6C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36192" y="2880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0A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619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49424" y="2880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95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4942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62656" y="2880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C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265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75888" y="2880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38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75888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did the return hit hardest?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card can sit under more than one. Pick where it pulls strongest.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623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Notice what’s actually threatened.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0A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your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certainty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your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your sense of the deal being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97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brain just files them
</a:t>
            </a:r>
            <a:pPr indent="0" marL="0">
              <a:lnSpc>
                <a:spcPts val="4000"/>
              </a:lnSpc>
              <a:buNone/>
            </a:pPr>
            <a:r>
              <a:rPr lang="en-US" sz="34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same drawer.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548640" y="13716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 BREAK BREAK BREAK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-548640" y="123444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REAK BREAK BREAK BREAK B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-548640" y="233172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BREAK BREAK BREAK BREA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-548640" y="342900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 BREAK BREAK BREAK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-548640" y="452628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REAK BREAK BREAK BREAK B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-548640" y="5623560"/>
            <a:ext cx="1335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E7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BREAK BREAK BREAK BREA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BREAK.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4626864" y="44805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26864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 IN 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5349240"/>
          </a:xfrm>
          <a:prstGeom prst="rect">
            <a:avLst/>
          </a:prstGeom>
          <a:solidFill>
            <a:srgbClr val="6FA3D3"/>
          </a:solidFill>
          <a:ln/>
        </p:spPr>
      </p:sp>
      <p:sp>
        <p:nvSpPr>
          <p:cNvPr id="3" name="Shape 1"/>
          <p:cNvSpPr/>
          <p:nvPr/>
        </p:nvSpPr>
        <p:spPr>
          <a:xfrm>
            <a:off x="6094476" y="0"/>
            <a:ext cx="6094476" cy="5349240"/>
          </a:xfrm>
          <a:prstGeom prst="rect">
            <a:avLst/>
          </a:prstGeom>
          <a:solidFill>
            <a:srgbClr val="F0A62B"/>
          </a:solidFill>
          <a:ln/>
        </p:spPr>
      </p:sp>
      <p:sp>
        <p:nvSpPr>
          <p:cNvPr id="4" name="Shape 2"/>
          <p:cNvSpPr/>
          <p:nvPr/>
        </p:nvSpPr>
        <p:spPr>
          <a:xfrm>
            <a:off x="4041648" y="292608"/>
            <a:ext cx="4114800" cy="566928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041648" y="2926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KINDS OF BELONGING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THREAT-DRIVEN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 to avoid something.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 Contingent on circumstances.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66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RENTED.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417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VALUE-DRIVEN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 toward something.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Slow. Anchored in what you choose.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566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OWNED.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3492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Fitting in is </a:t>
            </a:r>
            <a:pPr algn="ctr" indent="0" marL="0">
              <a:buNone/>
            </a:pPr>
            <a:r>
              <a:rPr lang="en-US" sz="30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  Belonging is a </a:t>
            </a:r>
            <a:pPr algn="ctr" indent="0" marL="0">
              <a:buNone/>
            </a:pPr>
            <a:r>
              <a:rPr lang="en-US" sz="30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deed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research shows: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10235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bonds groups fast and leaves them fragile.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shared goals produced belonging that lasted.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4107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Sherif, Robbers Cave, 1954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10235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pressure collapses when the pressure changes.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Internalized values persist.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107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 &amp; Ryan, Self-Determination Theory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510235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188720" y="4297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Belonging built on avoiding something burns out.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212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metabolically expensive. Belonging built toward something renews.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833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Elliot, approach–avoidance motivation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10235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Fear produces the performance of belonging.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212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Silence, matching, looking unified, while trust goes underground.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5833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Edmondson, psychological safety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0A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≈90%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approval, the highest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recorded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600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Near-universal national unity.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22860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two years, the country returned to, and then exceeded, its prior divisions.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34747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unity was real. It was </a:t>
            </a:r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rented from the threat.</a:t>
            </a:r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When the threat receded, </a:t>
            </a:r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lease expired.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5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71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471F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is a </a:t>
            </a:r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sprinter.</a:t>
            </a:r>
            <a:pPr indent="0" marL="0">
              <a:lnSpc>
                <a:spcPts val="5200"/>
              </a:lnSpc>
              <a:buNone/>
            </a:pP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471F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Values are a 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distance runner.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1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wins the first hundred meters every time.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has never once finished the race.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to office is a </a:t>
            </a:r>
            <a:pPr indent="0" marL="0">
              <a:buNone/>
            </a:pPr>
            <a:r>
              <a:rPr lang="en-US" sz="2400" b="1" dirty="0">
                <a:solidFill>
                  <a:srgbClr val="E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brain registered.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isn’t whether that’s true.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question is
</a:t>
            </a:r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anchor to.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FA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organization has evidence people could point to and say </a:t>
            </a:r>
            <a:pPr indent="0" marL="0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“belonging doesn’t exist here.”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ours?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things only: things you could point to, not feelings. One per sticky.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6235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5623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DECIDE WHAT THIS EVIDENCE MEANS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this evidence of?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uncertain situations, the brain reads ambiguous events as verdicts on belonging.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effective belonging interventions ever studied </a:t>
            </a: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didn’t change the events.</a:t>
            </a: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changed the reading: adversity is </a:t>
            </a: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and temporary.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34440" y="406908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verdict is </a:t>
            </a:r>
            <a:pPr indent="0" marL="0">
              <a:buNone/>
            </a:pPr>
            <a:r>
              <a:rPr lang="en-US" sz="24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permanent.</a:t>
            </a:r>
            <a:pPr indent="0" marL="0">
              <a:buNone/>
            </a:pPr>
            <a:r>
              <a:rPr lang="en-US" sz="2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 snapshot is </a:t>
            </a:r>
            <a:pPr indent="0" marL="0">
              <a:buNone/>
            </a:pPr>
            <a:r>
              <a:rPr lang="en-US" sz="24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moment.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Walton, G. &amp; Cohen, G. (2011). A brief social-belonging intervention improves academic and health outcomes. Science, 331.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FA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 to your wall. Take every sticky, one at a time, and ask: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evidence of </a:t>
            </a:r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ABSENCE</a:t>
            </a:r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belonging can’t exist here?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evidence of a </a:t>
            </a:r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team under threat, in transition?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34440" y="397764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spc="200" kern="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TEST   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this have looked the same eighteen months ago? Would it look the same if the stress faded?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715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5715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MINUTES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FA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each item: if this were </a:t>
            </a:r>
            <a:pPr indent="0" marL="0">
              <a:lnSpc>
                <a:spcPts val="41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healed</a:t>
            </a:r>
            <a:pPr indent="0" marL="0">
              <a:lnSpc>
                <a:spcPts val="4100"/>
              </a:lnSpc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 what would we see?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aspirations. Observable pictures.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34440" y="34290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5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group chat went quiet”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→   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“People share small wins without being asked.”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427939" cy="427939"/>
          </a:xfrm>
          <a:prstGeom prst="roundRect">
            <a:avLst>
              <a:gd name="adj" fmla="val 19231"/>
            </a:avLst>
          </a:prstGeom>
          <a:solidFill>
            <a:srgbClr val="F0A6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224" y="5049024"/>
            <a:ext cx="205411" cy="20541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4937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broken trust doesn’t belong in this column. It goes to the Carry It Up board.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7607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5760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MINUTES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</a:t>
            </a:r>
            <a:pPr indent="0" marL="0">
              <a:buNone/>
            </a:pPr>
            <a:r>
              <a:rPr lang="en-US" sz="34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owe</a:t>
            </a:r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team.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A2C42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0391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67128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2E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02536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owe the people at this table?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715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Specific. Behavioral. Starting this week.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34440" y="36576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85616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621024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need from the people at this table to keep showing up that way?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it’s really a leadership ask, walk it to the Carry It Up 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20056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34440" y="52760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04104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23951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a table, write your compact.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9527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Keep it.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</a:t>
            </a:r>
            <a:pPr indent="0" marL="0">
              <a:buNone/>
            </a:pPr>
            <a:r>
              <a:rPr lang="en-US" sz="34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owe</a:t>
            </a:r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team.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0391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67128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02536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owe the people at this table?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715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Specific. Behavioral. Starting this week.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A2C42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34440" y="36576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A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85616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621024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need from the people at this table to keep showing up that way?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it’s really a leadership ask, walk it to the Carry It Up 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20056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34440" y="52760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04104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23951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a table, write your compact.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9527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Keep it.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E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</a:t>
            </a:r>
            <a:pPr indent="0" marL="0">
              <a:buNone/>
            </a:pPr>
            <a:r>
              <a:rPr lang="en-US" sz="34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owe</a:t>
            </a:r>
            <a:pPr indent="0" marL="0">
              <a:buNone/>
            </a:pPr>
            <a:r>
              <a:rPr lang="en-US" sz="3400" dirty="0">
                <a:solidFill>
                  <a:srgbClr val="1A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team.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0391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67128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02536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owe the people at this table?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715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Specific. Behavioral. Starting this week.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34440" y="36576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85616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621024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AEB9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need from the people at this table to keep showing up that way?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it’s really a leadership ask, walk it to the Carry It Up 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20056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A2C42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34440" y="52760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04104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95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23951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a table, write your compact.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9527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Keep it.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ONE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607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600"/>
              </a:lnSpc>
              <a:buNone/>
            </a:pPr>
            <a:r>
              <a:rPr lang="en-US" sz="6000" dirty="0">
                <a:solidFill>
                  <a:srgbClr val="6FA3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line.
</a:t>
            </a:r>
            <a:pPr indent="0" marL="0">
              <a:lnSpc>
                <a:spcPts val="7600"/>
              </a:lnSpc>
              <a:buNone/>
            </a:pPr>
            <a:r>
              <a:rPr lang="en-US" sz="60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behavior.
</a:t>
            </a:r>
            <a:pPr indent="0" marL="0">
              <a:lnSpc>
                <a:spcPts val="76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week.</a:t>
            </a:r>
            <a:endParaRPr lang="en-US" sz="6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-256032"/>
            <a:ext cx="1234440" cy="841248"/>
          </a:xfrm>
          <a:prstGeom prst="roundRect">
            <a:avLst>
              <a:gd name="adj" fmla="val 17391"/>
            </a:avLst>
          </a:prstGeom>
          <a:solidFill>
            <a:srgbClr val="F0A62B"/>
          </a:solidFill>
          <a:ln/>
        </p:spPr>
      </p:sp>
      <p:sp>
        <p:nvSpPr>
          <p:cNvPr id="3" name="Shape 1"/>
          <p:cNvSpPr/>
          <p:nvPr/>
        </p:nvSpPr>
        <p:spPr>
          <a:xfrm>
            <a:off x="11539728" y="5486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950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4747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6FA3D3"/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0" y="932688"/>
            <a:ext cx="1024128" cy="713232"/>
          </a:xfrm>
          <a:prstGeom prst="roundRect">
            <a:avLst>
              <a:gd name="adj" fmla="val 17949"/>
            </a:avLst>
          </a:prstGeom>
          <a:solidFill>
            <a:srgbClr val="2438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in this room chose the return to office.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in this room </a:t>
            </a:r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chooses</a:t>
            </a:r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what their belonging is </a:t>
            </a:r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0A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anchored to.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0A6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5381427"/>
            <a:ext cx="228234" cy="2282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81328" y="525780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Carry It Up board goes with me to your leaders tomorrow.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Anchored. Belonging That Survives Change</dc:title>
  <dc:subject>PptxGenJS Presentation</dc:subject>
  <dc:creator>Gaelin Elmore</dc:creator>
  <cp:lastModifiedBy>Gaelin Elmore</cp:lastModifiedBy>
  <cp:revision>1</cp:revision>
  <dcterms:created xsi:type="dcterms:W3CDTF">2026-09-08T13:03:31Z</dcterms:created>
  <dcterms:modified xsi:type="dcterms:W3CDTF">2026-09-08T13:03:31Z</dcterms:modified>
</cp:coreProperties>
</file>